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4697445a4410a" /><Relationship Type="http://schemas.openxmlformats.org/officeDocument/2006/relationships/extended-properties" Target="/docProps/app.xml" Id="Re62ff94387d94a06" /><Relationship Type="http://schemas.openxmlformats.org/officeDocument/2006/relationships/officeDocument" Target="/ppt/presentation.xml" Id="Rcf4e5bf6bae44d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8315098684b78"/>
  </p:sldMasterIdLst>
  <p:notesMasterIdLst>
    <p:notesMasterId xmlns:r="http://schemas.openxmlformats.org/officeDocument/2006/relationships" r:id="Rcf451a3183d44d26"/>
  </p:notesMasterIdLst>
  <p:sldIdLst>
    <p:sldId xmlns:r="http://schemas.openxmlformats.org/officeDocument/2006/relationships" id="256" r:id="Rb129824c1e414441"/>
    <p:sldId xmlns:r="http://schemas.openxmlformats.org/officeDocument/2006/relationships" id="257" r:id="R0003024a4cda4c2e"/>
    <p:sldId xmlns:r="http://schemas.openxmlformats.org/officeDocument/2006/relationships" id="258" r:id="Re2d529d2cb2f427d"/>
    <p:sldId xmlns:r="http://schemas.openxmlformats.org/officeDocument/2006/relationships" id="259" r:id="R7d71e4199c1d4357"/>
    <p:sldId xmlns:r="http://schemas.openxmlformats.org/officeDocument/2006/relationships" id="260" r:id="Rc21de4e34b7443fb"/>
    <p:sldId xmlns:r="http://schemas.openxmlformats.org/officeDocument/2006/relationships" id="261" r:id="R8cc59c1cf9104399"/>
    <p:sldId xmlns:r="http://schemas.openxmlformats.org/officeDocument/2006/relationships" id="262" r:id="Ra3deede060d1412d"/>
    <p:sldId xmlns:r="http://schemas.openxmlformats.org/officeDocument/2006/relationships" id="263" r:id="R0cb27204dd674fcc"/>
    <p:sldId xmlns:r="http://schemas.openxmlformats.org/officeDocument/2006/relationships" id="264" r:id="Rfa84776da5174f1e"/>
    <p:sldId xmlns:r="http://schemas.openxmlformats.org/officeDocument/2006/relationships" id="265" r:id="Re4e36316bf4248c6"/>
    <p:sldId xmlns:r="http://schemas.openxmlformats.org/officeDocument/2006/relationships" id="266" r:id="R52fe4e1865c84516"/>
    <p:sldId xmlns:r="http://schemas.openxmlformats.org/officeDocument/2006/relationships" id="267" r:id="Rac62ce95f7c04f04"/>
    <p:sldId xmlns:r="http://schemas.openxmlformats.org/officeDocument/2006/relationships" id="268" r:id="R31c3029878f944a9"/>
    <p:sldId xmlns:r="http://schemas.openxmlformats.org/officeDocument/2006/relationships" id="269" r:id="R480c1d0bb9454d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3eaf9c0d554bb8" /><Relationship Type="http://schemas.openxmlformats.org/officeDocument/2006/relationships/slideMaster" Target="/ppt/slideMasters/slideMaster1.xml" Id="R0598315098684b78" /><Relationship Type="http://schemas.openxmlformats.org/officeDocument/2006/relationships/notesMaster" Target="/ppt/notesMasters/notesMaster1.xml" Id="Rcf451a3183d44d26" /><Relationship Type="http://schemas.openxmlformats.org/officeDocument/2006/relationships/presProps" Target="/ppt/presProps.xml" Id="Red8b5af09c484445" /><Relationship Type="http://schemas.openxmlformats.org/officeDocument/2006/relationships/tableStyles" Target="/ppt/tableStyles.xml" Id="Rc4519d09879647ff" /><Relationship Type="http://schemas.openxmlformats.org/officeDocument/2006/relationships/slide" Target="/ppt/slides/slide1.xml" Id="Rb129824c1e414441" /><Relationship Type="http://schemas.openxmlformats.org/officeDocument/2006/relationships/slide" Target="/ppt/slides/slide2.xml" Id="R0003024a4cda4c2e" /><Relationship Type="http://schemas.openxmlformats.org/officeDocument/2006/relationships/slide" Target="/ppt/slides/slide3.xml" Id="Re2d529d2cb2f427d" /><Relationship Type="http://schemas.openxmlformats.org/officeDocument/2006/relationships/slide" Target="/ppt/slides/slide4.xml" Id="R7d71e4199c1d4357" /><Relationship Type="http://schemas.openxmlformats.org/officeDocument/2006/relationships/slide" Target="/ppt/slides/slide5.xml" Id="Rc21de4e34b7443fb" /><Relationship Type="http://schemas.openxmlformats.org/officeDocument/2006/relationships/slide" Target="/ppt/slides/slide6.xml" Id="R8cc59c1cf9104399" /><Relationship Type="http://schemas.openxmlformats.org/officeDocument/2006/relationships/slide" Target="/ppt/slides/slide7.xml" Id="Ra3deede060d1412d" /><Relationship Type="http://schemas.openxmlformats.org/officeDocument/2006/relationships/slide" Target="/ppt/slides/slide8.xml" Id="R0cb27204dd674fcc" /><Relationship Type="http://schemas.openxmlformats.org/officeDocument/2006/relationships/slide" Target="/ppt/slides/slide9.xml" Id="Rfa84776da5174f1e" /><Relationship Type="http://schemas.openxmlformats.org/officeDocument/2006/relationships/slide" Target="/ppt/slides/slide10.xml" Id="Re4e36316bf4248c6" /><Relationship Type="http://schemas.openxmlformats.org/officeDocument/2006/relationships/slide" Target="/ppt/slides/slide11.xml" Id="R52fe4e1865c84516" /><Relationship Type="http://schemas.openxmlformats.org/officeDocument/2006/relationships/slide" Target="/ppt/slides/slide12.xml" Id="Rac62ce95f7c04f04" /><Relationship Type="http://schemas.openxmlformats.org/officeDocument/2006/relationships/slide" Target="/ppt/slides/slide13.xml" Id="R31c3029878f944a9" /><Relationship Type="http://schemas.openxmlformats.org/officeDocument/2006/relationships/slide" Target="/ppt/slides/slide14.xml" Id="R480c1d0bb945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930bc32e74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b0556eac944918" /><Relationship Type="http://schemas.openxmlformats.org/officeDocument/2006/relationships/notesMaster" Target="/ppt/notesMasters/notesMaster1.xml" Id="R60b9869496c5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a624c285d4def" /><Relationship Type="http://schemas.openxmlformats.org/officeDocument/2006/relationships/notesMaster" Target="/ppt/notesMasters/notesMaster1.xml" Id="R4082ac232fe7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c4c328519f4f5d" /><Relationship Type="http://schemas.openxmlformats.org/officeDocument/2006/relationships/notesMaster" Target="/ppt/notesMasters/notesMaster1.xml" Id="Rd45e96a73ed242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a35e1689e413e" /><Relationship Type="http://schemas.openxmlformats.org/officeDocument/2006/relationships/notesMaster" Target="/ppt/notesMasters/notesMaster1.xml" Id="R7387f4f2fa03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28b7ee56a4c0f" /><Relationship Type="http://schemas.openxmlformats.org/officeDocument/2006/relationships/notesMaster" Target="/ppt/notesMasters/notesMaster1.xml" Id="R87cc97215d5b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875c6793564335" /><Relationship Type="http://schemas.openxmlformats.org/officeDocument/2006/relationships/notesMaster" Target="/ppt/notesMasters/notesMaster1.xml" Id="Rf53e128e5ad44e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d1ec1ef0ec4633" /><Relationship Type="http://schemas.openxmlformats.org/officeDocument/2006/relationships/notesMaster" Target="/ppt/notesMasters/notesMaster1.xml" Id="R397b1034aa4544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884f0106cb47b4" /><Relationship Type="http://schemas.openxmlformats.org/officeDocument/2006/relationships/notesMaster" Target="/ppt/notesMasters/notesMaster1.xml" Id="R14353e38ee1f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2f66cdeb64e73" /><Relationship Type="http://schemas.openxmlformats.org/officeDocument/2006/relationships/notesMaster" Target="/ppt/notesMasters/notesMaster1.xml" Id="R53b8f7faabde4f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93d80a7c142de" /><Relationship Type="http://schemas.openxmlformats.org/officeDocument/2006/relationships/notesMaster" Target="/ppt/notesMasters/notesMaster1.xml" Id="R423a6068d42f42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0cd2c9e1c24093" /><Relationship Type="http://schemas.openxmlformats.org/officeDocument/2006/relationships/notesMaster" Target="/ppt/notesMasters/notesMaster1.xml" Id="R63b75cf666f143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c5d7426b274960" /><Relationship Type="http://schemas.openxmlformats.org/officeDocument/2006/relationships/notesMaster" Target="/ppt/notesMasters/notesMaster1.xml" Id="R59fa2d04980b44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d0bc9b279242fc" /><Relationship Type="http://schemas.openxmlformats.org/officeDocument/2006/relationships/notesMaster" Target="/ppt/notesMasters/notesMaster1.xml" Id="R9bbd994a8e844a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d6f94fc68b43fa" /><Relationship Type="http://schemas.openxmlformats.org/officeDocument/2006/relationships/notesMaster" Target="/ppt/notesMasters/notesMaster1.xml" Id="R0516e16e5782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저장소 README.md</a:t>
            </a:r>
          </a:p>
          <a:p xmlns:a="http://schemas.openxmlformats.org/drawingml/2006/main">
            <a:r>
              <a:t>- docs/model.md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docs/team_integration_contract.md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 history</a:t>
            </a:r>
          </a:p>
          <a:p xmlns:a="http://schemas.openxmlformats.org/drawingml/2006/main">
            <a:r>
              <a:t>- README.md 단계별 실행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docs/model.md</a:t>
            </a:r>
          </a:p>
          <a:p xmlns:a="http://schemas.openxmlformats.org/drawingml/2006/main">
            <a:r>
              <a:t>- src/starlink_downlink/ideal.py 및 단계별 테스트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CelesTrak GP/OMM data: https://celestrak.org/</a:t>
            </a:r>
          </a:p>
          <a:p xmlns:a="http://schemas.openxmlformats.org/drawingml/2006/main">
            <a:r>
              <a:t>- outputs/sgp4_downlink/orbit_3d.png</a:t>
            </a:r>
          </a:p>
          <a:p xmlns:a="http://schemas.openxmlformats.org/drawingml/2006/main">
            <a:r>
              <a:t>- src/starlink_downlink/sgp4_model.py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outputs/sgp4_downlink/summary.json</a:t>
            </a:r>
          </a:p>
          <a:p xmlns:a="http://schemas.openxmlformats.org/drawingml/2006/main">
            <a:r>
              <a:t>- outputs/sgp4_downlink/passes.csv</a:t>
            </a:r>
          </a:p>
          <a:p xmlns:a="http://schemas.openxmlformats.org/drawingml/2006/main">
            <a:r>
              <a:t>- outputs/sgp4_downlink/results.csv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src/starlink_downlink/qpsk.py</a:t>
            </a:r>
          </a:p>
          <a:p xmlns:a="http://schemas.openxmlformats.org/drawingml/2006/main">
            <a:r>
              <a:t>- src/starlink_downlink/channel_grid.py</a:t>
            </a:r>
          </a:p>
          <a:p xmlns:a="http://schemas.openxmlformats.org/drawingml/2006/main">
            <a:r>
              <a:t>- docs/team_integration_contract.md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configs/ofdm_baseline.yaml</a:t>
            </a:r>
          </a:p>
          <a:p xmlns:a="http://schemas.openxmlformats.org/drawingml/2006/main">
            <a:r>
              <a:t>- docs/team_integration_contract.md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src/starlink_downlink/interpolation.py</a:t>
            </a:r>
          </a:p>
          <a:p xmlns:a="http://schemas.openxmlformats.org/drawingml/2006/main">
            <a:r>
              <a:t>- tests/test_interpolation.py</a:t>
            </a:r>
          </a:p>
          <a:p xmlns:a="http://schemas.openxmlformats.org/drawingml/2006/main">
            <a:r>
              <a:t>- configs/ofdm_baseline.yaml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outputs/channel_grid/channel_grid_heatmap.png</a:t>
            </a:r>
          </a:p>
          <a:p xmlns:a="http://schemas.openxmlformats.org/drawingml/2006/main">
            <a:r>
              <a:t>- outputs/channel_grid/channel_grid.csv</a:t>
            </a:r>
          </a:p>
          <a:p xmlns:a="http://schemas.openxmlformats.org/drawingml/2006/main">
            <a:r>
              <a:t>- src/starlink_downlink/channel_grid.py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outputs/channel_events/magnitude_evolution.png</a:t>
            </a:r>
          </a:p>
          <a:p xmlns:a="http://schemas.openxmlformats.org/drawingml/2006/main">
            <a:r>
              <a:t>- src/starlink_downlink/channel_events.py</a:t>
            </a:r>
          </a:p>
          <a:p xmlns:a="http://schemas.openxmlformats.org/drawingml/2006/main">
            <a:r>
              <a:t>- docs/team_integration_contract.md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outputs/channel_blocks/block_start_compensation.png</a:t>
            </a:r>
          </a:p>
          <a:p xmlns:a="http://schemas.openxmlformats.org/drawingml/2006/main">
            <a:r>
              <a:t>- src/starlink_downlink/channel_blocks.py</a:t>
            </a:r>
          </a:p>
          <a:p xmlns:a="http://schemas.openxmlformats.org/drawingml/2006/main">
            <a:r>
              <a:t>- Pollet et al., DOI: 10.1109/26.380034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docs/team_integration_contract.md</a:t>
            </a:r>
          </a:p>
          <a:p xmlns:a="http://schemas.openxmlformats.org/drawingml/2006/main">
            <a:r>
              <a:t>- src/starlink_downlink/channel_grid.py</a:t>
            </a:r>
          </a:p>
          <a:p xmlns:a="http://schemas.openxmlformats.org/drawingml/2006/main">
            <a:r>
              <a:t>- tests/test_channel_grid.py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전체 테스트 스위트</a:t>
            </a:r>
          </a:p>
          <a:p xmlns:a="http://schemas.openxmlformats.org/drawingml/2006/main">
            <a:r>
              <a:t>- Pollet et al., DOI: 10.1109/26.380034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3399dca4a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692367b3344574" /><Relationship Type="http://schemas.openxmlformats.org/officeDocument/2006/relationships/slideLayout" Target="/ppt/slideLayouts/slideLayout1.xml" Id="R17cef56e46a249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ef56e46a249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3947961184c43" /><Relationship Type="http://schemas.openxmlformats.org/officeDocument/2006/relationships/notesSlide" Target="/ppt/notesSlides/notesSlide1.xml" Id="Rea52a4fefec448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526c5b87c40ae" /><Relationship Type="http://schemas.openxmlformats.org/officeDocument/2006/relationships/notesSlide" Target="/ppt/notesSlides/notesSlide2.xml" Id="R635c958e3c39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1132f21db4c5a" /><Relationship Type="http://schemas.openxmlformats.org/officeDocument/2006/relationships/notesSlide" Target="/ppt/notesSlides/notesSlide3.xml" Id="Rf6b9437da5d9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c7dda29ef411f" /><Relationship Type="http://schemas.openxmlformats.org/officeDocument/2006/relationships/notesSlide" Target="/ppt/notesSlides/notesSlide4.xml" Id="Rda7e224e5d9d4f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7ee7fd9dd49e2" /><Relationship Type="http://schemas.openxmlformats.org/officeDocument/2006/relationships/image" Target="/ppt/media/image.png" Id="Re2c07c6f4d8547ad" /><Relationship Type="http://schemas.openxmlformats.org/officeDocument/2006/relationships/notesSlide" Target="/ppt/notesSlides/notesSlide5.xml" Id="R4d0f2890867344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b8509b3fc4830" /><Relationship Type="http://schemas.openxmlformats.org/officeDocument/2006/relationships/notesSlide" Target="/ppt/notesSlides/notesSlide6.xml" Id="R9249fbba759746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b72abb43148e0" /><Relationship Type="http://schemas.openxmlformats.org/officeDocument/2006/relationships/notesSlide" Target="/ppt/notesSlides/notesSlide7.xml" Id="Rf488410cf3414b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b654643f34b6f" /><Relationship Type="http://schemas.openxmlformats.org/officeDocument/2006/relationships/notesSlide" Target="/ppt/notesSlides/notesSlide8.xml" Id="Rcec2f846b24a46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4b667dd7a49d8" /><Relationship Type="http://schemas.openxmlformats.org/officeDocument/2006/relationships/notesSlide" Target="/ppt/notesSlides/notesSlide9.xml" Id="R5216485e321949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ea907b3fb4672" /><Relationship Type="http://schemas.openxmlformats.org/officeDocument/2006/relationships/image" Target="/ppt/media/image2.png" Id="R40f3461e84414c60" /><Relationship Type="http://schemas.openxmlformats.org/officeDocument/2006/relationships/notesSlide" Target="/ppt/notesSlides/notesSlide10.xml" Id="R2e4b9895545841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8877767934990" /><Relationship Type="http://schemas.openxmlformats.org/officeDocument/2006/relationships/image" Target="/ppt/media/image3.png" Id="R81e6e493899147a1" /><Relationship Type="http://schemas.openxmlformats.org/officeDocument/2006/relationships/notesSlide" Target="/ppt/notesSlides/notesSlide11.xml" Id="Reb155fb7bf3846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9e4bcfee44e0c" /><Relationship Type="http://schemas.openxmlformats.org/officeDocument/2006/relationships/image" Target="/ppt/media/image4.png" Id="R9546eef3db4740b6" /><Relationship Type="http://schemas.openxmlformats.org/officeDocument/2006/relationships/notesSlide" Target="/ppt/notesSlides/notesSlide12.xml" Id="Rd118a142ed5b43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a041937df4daf" /><Relationship Type="http://schemas.openxmlformats.org/officeDocument/2006/relationships/notesSlide" Target="/ppt/notesSlides/notesSlide13.xml" Id="R9d13f8e3b8764c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ddf3ae9ed4fe5" /><Relationship Type="http://schemas.openxmlformats.org/officeDocument/2006/relationships/notesSlide" Target="/ppt/notesSlides/notesSlide14.xml" Id="Recd6688993554e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B074C-D746-44C5-B721-826FB3A6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RESEARCH PROJECT ·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7F03B-492A-4AF6-A79C-613FBDBF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106203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STARLINK‑5285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4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Downlink Channel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0033E-8E2C-410B-A588-167E87DC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이상적 궤도 모델에서 실제 SGP4 패스와 OFDM용 H[m,k]까지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FA060-7178-4A95-94FE-42EB4008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714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673CD-F4DE-43A4-B22D-02BC15C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62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최민준 · 성균관대학교 자연과학캠퍼스</a:t>
            </a:r>
          </a:p>
        </p:txBody>
      </p:sp>
    </p:spTree>
    <p:extLst>
      <p:ext uri="{BB962C8B-B14F-4D97-AF65-F5344CB8AC3E}">
        <p14:creationId xmlns:p14="http://schemas.microsoft.com/office/powerpoint/2010/main" val="1549050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EC129-B45D-4E26-A004-22305B63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01 · RESEARCH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41D9F-90B0-433F-B6D9-6FAECBFA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무엇을 만들었는가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DDF3E-D909-4A71-8816-C9C55304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위성 위치 정보가 OFDM 송수신기에서 사용할 수 있는 채널 상태로 이어지는 연결부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7FBF5-6AEF-486E-BCF1-71CEC49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1E7EF-DF59-4DF5-B8BC-4D652E3A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6301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6C5EB-EF1F-4BF5-9524-2348868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F60E8-C913-4E53-A7A6-6F4E162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54102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110EB-C656-4376-A90D-0E349BD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F1E57-6E8D-40FD-BC25-6E6B91D4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0502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PROJECT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D9E1C-6AF1-4879-89D8-19401FA9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003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위성 운동을 통신 채널로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F5274-7249-4FB3-94EF-F8ADFE1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95625"/>
            <a:ext cx="50292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CelesTrak 궤도 원소 → 위치·속도 벡터 → 지상국 상대 거리·속도 → 지연·도플러·경로손실 → 복소 채널 H[m,k]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B0F6F-9E7F-4D4C-AF18-AC41F80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4102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F3A8F-4C0B-440D-96DC-1442FCB0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37BCF-BB69-492E-8C80-AF779C64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0502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RESPONSIBILITY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17786-1753-4B50-80FC-EC16BBE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채널 파트의 결합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59660-1853-4BA2-AA1F-C64CB4FF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95625"/>
            <a:ext cx="50292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빔포밍과 OFDM 변복조 자체를 대신 구현하는 것이 아니라, 팀원이 바로 사용할 수 있는 시간·주파수 축과 채널 값, 메타데이터, 검증 규칙을 제공</a:t>
            </a:r>
          </a:p>
        </p:txBody>
      </p:sp>
    </p:spTree>
    <p:extLst>
      <p:ext uri="{BB962C8B-B14F-4D97-AF65-F5344CB8AC3E}">
        <p14:creationId xmlns:p14="http://schemas.microsoft.com/office/powerpoint/2010/main" val="1620051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D5ECB-6FD1-492D-9576-86E9EA7C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02 ·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39003-BC6F-4965-AD34-C61D649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개발 과정은 세 번의 현실화로 진행됐다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C639-7C18-4408-8942-5BD94E19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수식을 먼저 검증하고, 실제 궤도와 팀 통합 요구를 차례로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13576-1769-49A7-873F-B346F63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F0D9D-EAE0-4B89-A890-392975A6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244520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1F2EB-5361-4122-8F58-74CAC1C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CEE40-162F-4611-AA88-AB23D4D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9886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A9114-122F-4F5F-8225-FFA0B470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C70A1-EEF4-46DC-9F6F-3303347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1–6단계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61477-C119-4CF5-AF90-7027FAC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이상적 원궤도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5D275-035C-4D04-A310-B4DDD2C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구면 지구·원궤도에서</a:t>
            </a:r>
          </a:p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기하와 통신 물리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5A4F0-EF8A-48D6-871E-68E6C30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432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B8E08-451F-4BCC-ACD4-661E6C0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336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7단계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23930-571D-4BCC-A1CD-FEC49A33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실제 SGP4 패스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7E39D-6A9C-4ADD-9B85-D18C771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196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CelesTrak OMM과 WGS‑84</a:t>
            </a:r>
          </a:p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지상국 좌표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DC955-DDBF-4248-B3DD-68C3224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4160A-D043-4A91-BED7-43345F3C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통합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3CC51-7239-455D-BAD7-CA6A86A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39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OFDM 채널 인터페이스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5587A-7B35-49CE-A1F8-49B0880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Hermite 보간·H[m,k]·</a:t>
            </a:r>
          </a:p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CSV/NPZ 계약 확정</a:t>
            </a:r>
          </a:p>
        </p:txBody>
      </p:sp>
    </p:spTree>
    <p:extLst>
      <p:ext uri="{BB962C8B-B14F-4D97-AF65-F5344CB8AC3E}">
        <p14:creationId xmlns:p14="http://schemas.microsoft.com/office/powerpoint/2010/main" val="715067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E9D40-927E-4ADC-93C7-FB557095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03 · IDEAL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A649E-AC49-4F1D-BF7F-C7641D2C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1–6단계: 물리식을 분리해서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8A3D1-5BC7-47A2-8055-8176D59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실제 궤도에 들어가기 전에 각 현상의 원인과 단위를 독립적으로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A7984-0BC3-48F4-BA6D-59DD5D2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E6603-6BEE-4240-95B3-78565B0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326027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B875-5F60-4D17-BB49-2DF0A00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09866-DA15-41CD-91D3-5C729626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2466975" cy="3676650"/>
          </a:xfrm>
          <a:prstGeom xmlns:a="http://schemas.openxmlformats.org/drawingml/2006/main" prst="roundRect">
            <a:avLst>
              <a:gd name="adj" fmla="val 6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E0F77-7F30-45C9-808E-E847591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5740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E9AEE-324F-4C71-A32B-FC55BD6E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383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ORBIT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A15D3-18EB-4A59-BB79-5FEF942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33650"/>
            <a:ext cx="208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원궤도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2A7A4-6F64-4737-8AC2-99651FB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28975"/>
            <a:ext cx="2085975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고도 572 km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주기 5,766.6 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경사각 70°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FB4B5-B6AB-407B-A59B-EE9BE5B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66900"/>
            <a:ext cx="2466975" cy="3676650"/>
          </a:xfrm>
          <a:prstGeom xmlns:a="http://schemas.openxmlformats.org/drawingml/2006/main" prst="roundRect">
            <a:avLst>
              <a:gd name="adj" fmla="val 6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4BA15-C622-4B94-9150-14A6031F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74B40-F117-4FB6-A8E8-63B4AF89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383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GEOMETRY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C41C8-20C7-415D-8C0A-ECFC5A0C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08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지상국 기하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D6210-D747-4876-9DDD-2FF4426C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28975"/>
            <a:ext cx="2085975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위도 37.2934°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지구 자전 반영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앙각·가시구간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59DD5-A7CA-4E2C-AF96-B4564E7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66900"/>
            <a:ext cx="2466975" cy="3676650"/>
          </a:xfrm>
          <a:prstGeom xmlns:a="http://schemas.openxmlformats.org/drawingml/2006/main" prst="roundRect">
            <a:avLst>
              <a:gd name="adj" fmla="val 6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F29D2-97BC-4F73-8B86-F7A4862C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5740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ED670-5C5D-45E3-883B-D93A063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PROPAGATION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EA699-B35D-4740-8243-17955AB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208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지연·도플러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05409-70B7-4D34-8F63-7F8A7A3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28975"/>
            <a:ext cx="2085975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경사거리/c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거리 변화율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누적 위상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DB93F-ACEC-4382-98D6-D2311579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66900"/>
            <a:ext cx="2466975" cy="3676650"/>
          </a:xfrm>
          <a:prstGeom xmlns:a="http://schemas.openxmlformats.org/drawingml/2006/main" prst="roundRect">
            <a:avLst>
              <a:gd name="adj" fmla="val 6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F845B-57CC-4095-AF2A-5D8F398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5740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ED9F7-FF27-4B46-885A-F987CA7D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383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3D4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43D4E"/>
                </a:solidFill>
                <a:latin typeface="Malgun Gothic"/>
                <a:ea typeface="Malgun Gothic"/>
                <a:cs typeface="Malgun Gothic"/>
              </a:rPr>
              <a:t>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979EF-588D-4ADF-B8BB-9DDE7F0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33650"/>
            <a:ext cx="208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전력·잡음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01D3D-164B-49E5-B188-42DD90A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28975"/>
            <a:ext cx="2085975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FSPL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열잡음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SNR·수신전력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2F134-AFBC-46A5-90DE-F9A14FD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핵심 구분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3A7552-DC8E-4F57-82D2-C2604A56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829300"/>
            <a:ext cx="997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절대 전파지연 ≠ 다중경로 지연확산 · 도플러 편이 ≠ 거리 증가에 따른 전력 감소 · CP는 절대 전파지연 보상 장치가 아님</a:t>
            </a:r>
          </a:p>
        </p:txBody>
      </p:sp>
    </p:spTree>
    <p:extLst>
      <p:ext uri="{BB962C8B-B14F-4D97-AF65-F5344CB8AC3E}">
        <p14:creationId xmlns:p14="http://schemas.microsoft.com/office/powerpoint/2010/main" val="1900762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35D89-E7B3-413F-AC38-D176F588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04 · ACTUAL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69A2C-B369-4A8F-93FA-305B672D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7단계: CelesTrak OMM과 SGP4로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D446C-8E64-4571-818F-8BDCA28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이상적 모델은 보존하고, 실제 궤도 모델을 별도 모드로 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38573-DCE1-4500-A273-302DA81D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28525-850C-47D2-97E2-B72862B5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407533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510F-AE00-4151-AD47-88023D7B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275F9-4F8F-4C95-8E98-7635AE4E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F537A-C7E1-489E-89D7-E64A250F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962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NORAD ID 55296 · STARLINK‑5285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3B1B1-D026-41BA-A8EC-0DBCBEDA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0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CB32D-61B4-4936-857E-2CF58B9F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4962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TEME 상태벡터를 ECEF로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E3FC1-1161-4075-A516-606EF852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913FF-B5AB-4825-A8A2-8C933F82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62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WGS‑84 geodetic 위·경도로 지상궤적 통일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35413-B43C-418B-9A91-6830F401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38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E0EF2-2877-4D8F-8D75-D5A7AF02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4962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거리 최소와 최대 앙각 시점을 독립 최적화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D664B-BFA6-4C6A-B9B4-7B1EADE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417A7-8F39-41F8-B417-2FF07C08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962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10° 가시 경계를 허용오차와 함께 포함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4EA97-6548-40AD-9D06-CD0BC6A2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14475"/>
            <a:ext cx="5543550" cy="4619625"/>
          </a:xfrm>
          <a:prstGeom xmlns:a="http://schemas.openxmlformats.org/drawingml/2006/main" prst="roundRect">
            <a:avLst>
              <a:gd name="adj" fmla="val 329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07c6f4d8547ad"/>
          <a:stretch xmlns:a="http://schemas.openxmlformats.org/drawingml/2006/main"/>
        </p:blipFill>
        <p:spPr>
          <a:xfrm xmlns:a="http://schemas.openxmlformats.org/drawingml/2006/main">
            <a:off x="6396718" y="1562100"/>
            <a:ext cx="5170714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DF52E-80BC-4B3A-A2E3-7F849125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1626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전체 한 궤도는 회색, 분석 패스와 가시구간은 파란색, 지상국 자전 경로는 주황색</a:t>
            </a:r>
          </a:p>
        </p:txBody>
      </p:sp>
    </p:spTree>
    <p:extLst>
      <p:ext uri="{BB962C8B-B14F-4D97-AF65-F5344CB8AC3E}">
        <p14:creationId xmlns:p14="http://schemas.microsoft.com/office/powerpoint/2010/main" val="1761038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FF93E-67EB-40DE-8199-9603AD33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05 · SELECTED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98525-579A-4CCD-B0F0-27508E5A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선택 패스의 핵심 수치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B16A0-66B6-459F-9076-E8DA475D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2026‑07‑29 07:42:36.761–07:51:02.674 UTC · 최소 앙각 10°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BA712-4602-423F-86B2-C6BEFABB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797B2-6FA6-4C8E-B559-61FCBB2B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48904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AA512-A59D-47E7-A224-08AC8155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59BF6-1ABB-45B1-9EE2-C24F61C2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96C9A-66A9-4E82-AFBF-C4D21657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360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4FBE0-DE6E-408B-854C-D8D0ADA5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86025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505.9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91099-A174-448D-B02D-BEAD7BA2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432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seconds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DA190-823D-48A0-AA66-45F08305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956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10° 이상 전체 가시시간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1801B-B0E4-46A6-8B9E-FA89225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B3101-C90B-4BC5-8B1B-F553EF66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888B2-89CC-4727-B293-99031D39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579.7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1137F-D8C5-4384-80BF-C94D288A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kilometres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D65C3-78E0-45C0-96FD-953E8657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956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최근접점 최소 경사거리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4CDA0-047F-4691-89B5-460F6621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2405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49C22-19D9-4E2F-8604-CFACC3B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3360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CEC1E-3791-4B3C-8033-3ADFFB1F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86025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223.1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54CCC-1A1F-48B2-A443-818889E8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432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kHz @ 10 GHz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562E1-17D6-4825-A8D7-576590F8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선택 패스 최대 절대 도플러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04CFF-093B-4330-A866-6A7A9C5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67225"/>
            <a:ext cx="114109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A1027-FA71-4229-ADF2-BBA99B0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최대 앙각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276C9-6643-4152-8418-D14877C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85.1649° · 07:46:50.801 UTC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C184E-AA53-4A79-ACC0-847EE3E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95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최근접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BAF5E-F9B3-4745-9AC9-DD57B0B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29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07:46:50.953 UTC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7C1E9-284A-4B47-8745-CA4BDBA5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두 사건의 차이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EF8FA-3B07-49EB-9928-821BC9E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최대 앙각이 0.152 s 먼저</a:t>
            </a:r>
          </a:p>
        </p:txBody>
      </p:sp>
    </p:spTree>
    <p:extLst>
      <p:ext uri="{BB962C8B-B14F-4D97-AF65-F5344CB8AC3E}">
        <p14:creationId xmlns:p14="http://schemas.microsoft.com/office/powerpoint/2010/main" val="33057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9D26F-B65F-4EBD-A1F5-8872DA47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06 · SIGNAL TO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107B2-1BCB-4F32-A6D9-C935D0AF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연속파 분석에서 OFDM용 채널로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D00D7-40A2-466D-B13C-36DE5EC3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파형과 채널을 분리해, 다른 팀원의 OFDM 구현에도 그대로 연결되도록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7721B-4EB0-407F-8D4A-ADF60EB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F996A-D898-4C0D-9B02-0846319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5705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CF576-61FA-485A-A2DA-06681701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4EDB2-A48E-4C58-A2E4-68486C52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5429250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56FF2-2317-4F2F-8F3E-A74636A7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135255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3B4A0-874A-47D9-A3B7-278CB539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초기 신호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93DBE-289E-4682-9A14-597F700F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QPSK + AWGN + 위성 도플러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ADBAD-6161-473A-9B25-5578F98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65622-3F51-49C6-8881-8D1A0DA4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복소 기저대역 수신신호 구성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362B5-5CC4-498A-AF71-D9D8C93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681CB-8270-43DE-AFB3-E8303AE7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성상도·BER·EVM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D4EBF-CAFA-479B-835E-60607F7B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60C80-2FBE-4525-A326-37F03AE6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pilot 기반 도플러 추정 예비 실험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6124F-06B7-4A67-A0A0-2577DDEF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52600"/>
            <a:ext cx="5343525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B5DDF-B996-4D31-BFA3-554056CC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90725"/>
            <a:ext cx="161925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03090-965A-4218-973E-9D36285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478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최종 채널 인터페이스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81847-6C6E-4C3E-B71A-A40730CF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H[m,k] = a(tₘ) · exp{−j2πfₖτ(tₘ)}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C934B-9022-4D3B-87A6-306B01C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시간별 경로 이득 a(t)와 지연 τ(t)를 주파수축에 펼친 복소 SISO 채널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F431F-BF57-4AEA-A9AD-4D03D700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95825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RAW 채널과 Doppler/phase 보상 채널을 메타데이터로 명시</a:t>
            </a:r>
          </a:p>
        </p:txBody>
      </p:sp>
    </p:spTree>
    <p:extLst>
      <p:ext uri="{BB962C8B-B14F-4D97-AF65-F5344CB8AC3E}">
        <p14:creationId xmlns:p14="http://schemas.microsoft.com/office/powerpoint/2010/main" val="618640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F6C47-58B5-4F66-A635-72B119B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07 · OFDM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FB87D-4728-4FBD-8B83-2C85F81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팀 통합에 사용할 기준 파라미터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A1C32-C328-44D4-AD5C-3A4AE7CB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민영님 구현에서 가져온 값으로 채널 축과 차원을 고정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32ECC-B5C4-4FE4-8DAD-FAC0272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D5307-7FA0-4A28-AFDF-8B4BB3BF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65205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2969B-F2E9-47F7-9E29-C58DAF6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390525" y="1657350"/>
          <a:ext xmlns:a="http://schemas.openxmlformats.org/drawingml/2006/main" cx="11410950" cy="4371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476500"/>
                <a:gridCol w="6457950"/>
              </a:tblGrid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14300" marR="114300" marT="76200" marB="7620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확정값</a:t>
                      </a:r>
                    </a:p>
                  </a:txBody>
                  <a:tcPr marL="114300" marR="114300" marT="76200" marB="7620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 구현에서의 의미</a:t>
                      </a:r>
                    </a:p>
                  </a:txBody>
                  <a:tcPr marL="114300" marR="114300" marT="76200" marB="76200" anchor="ctr">
                    <a:solidFill>
                      <a:srgbClr val="EAF2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중심주파수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11.7 GHz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도플러 및 위상 계산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FFT 크기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256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부반송파 격자</a:t>
                      </a:r>
                    </a:p>
                  </a:txBody>
                  <a:tcPr marL="114300" marR="114300" marT="66675" marB="66675" anchor="ctr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부반송파 간격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 kHz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정규화 CFO와 주파수축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부반송파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223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H[m,k]의 frequency 차원</a:t>
                      </a:r>
                    </a:p>
                  </a:txBody>
                  <a:tcPr marL="114300" marR="114300" marT="66675" marB="66675" anchor="ctr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샘플링률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30.72 MHz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 = 32.552 ns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OFDM 심벌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8.333 μs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 없이 FFT 구간 기준</a:t>
                      </a:r>
                    </a:p>
                  </a:txBody>
                  <a:tcPr marL="114300" marR="114300" marT="66675" marB="66675" anchor="ctr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Pilot 간격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 pilots · 208 data</a:t>
                      </a:r>
                    </a:p>
                  </a:txBody>
                  <a:tcPr marL="114300" marR="114300" marT="66675" marB="66675" anchor="ctr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변조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QPSK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링크 성능 실험</a:t>
                      </a:r>
                    </a:p>
                  </a:txBody>
                  <a:tcPr marL="114300" marR="11430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095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07048E-4DF6-43E3-B2EB-84EE3B66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08 · TIME RESOLUTION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F1088-AE38-4B8E-AE99-F92C17A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1초 궤도 샘플을 μs 채널에 연결하는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4B824-50E6-494F-AB31-45571EC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위성을 1초 동안 정지시키지 않고 위치와 속도를 연속적으로 보간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02C50-CDBC-4C8E-BB3E-AEA98FB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20652-A8EC-4134-AD4E-7F8E0C36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7335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89BBA-D0EF-43F0-B71B-C6F7BEE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1F7FF-5C07-417A-9173-9D6D6EA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343150" cy="30003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5326B-02B4-48F4-B510-C5A49FD5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23C37-1C5A-4A34-9A85-8E3F4DB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50117-22FB-465D-B0B8-415EA03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SGP4 원본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B3B0F-4DA1-4C63-AF03-79D3A02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1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84D2A-810C-450F-A9CC-BD097BCD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위치 rᵢ와 속도 vᵢ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4721A-087F-4491-8E90-D25E48D7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343150" cy="30003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6FF04-F9C5-4E0D-ADA1-02E2C54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AB3A2-A2D1-42FB-999D-9B92808F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C4C96-553B-405B-A0CF-54D4931D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Cubic Hermite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B3E6F-83B4-4446-9DCC-343FDCD5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continuous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B3F5D-E343-4A08-AADC-480E224A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67175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두 상태 사이를 위치·속도로 보간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80917-38AE-40FA-A2FA-44C798E1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343150" cy="30003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421D8-7B6B-4F19-B748-4C0D9C61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128E1-2E1E-49FB-8997-B5ED818E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BB3BC-1525-4F21-BF65-9A62CBB6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채널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FA0F7-DA0A-49A9-8311-AB70718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1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4A964-BD22-415C-A461-108368CC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67175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거리·도플러·복소 이득 갱신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A5AAA-ED7D-4DEF-BA6F-83AF6A5A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343150" cy="30003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DE050-79FB-4445-B20D-1028111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4B5A9-2716-4350-BC24-713F12AD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1ECE7-A61C-4BAC-A0D9-16BB1662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38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OFDM 평가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024F1A-8B2A-4111-996D-ED49727F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8.333 μs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4DBDF5-08D6-43E6-B51E-B60EEA3D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67175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FFT 창 중심에서 H[m,k] 계산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60D00-C79D-4ED4-BC47-CF1D5610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194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8A055-673C-4668-BC9A-3E828267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194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699A37-3C63-4F76-AF94-7A633760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194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2C558C-2906-462B-B9E4-7DC5649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48300"/>
            <a:ext cx="83058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85C279-A141-433B-8EDB-80608BA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292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검증: Hermite 위치 차분 속도 ≈ 제공 속도 · 중복/역순 시각, NaN/Inf, 단위 오류는 입력 단계에서 차단</a:t>
            </a:r>
          </a:p>
        </p:txBody>
      </p:sp>
    </p:spTree>
    <p:extLst>
      <p:ext uri="{BB962C8B-B14F-4D97-AF65-F5344CB8AC3E}">
        <p14:creationId xmlns:p14="http://schemas.microsoft.com/office/powerpoint/2010/main" val="51558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2B18E-40DE-4A4F-9183-5E5F4ED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09 · CHANNEL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2E93C-DB12-41FA-BA62-BCF99B21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복소 SISO 채널 H[m,k]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9AFF9-48BF-4DA4-9695-9818D5E7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가로축 time, 세로축 frequency인 2차원 채널 격자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7299B-73CF-4B57-9D56-FE79AF4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5907B-4770-4E9B-BE15-91E5E8C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8150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25CE2-3EA2-4CF9-AABD-395116E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63AA4-A8EF-4F88-9D1F-9AD1E725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09725"/>
            <a:ext cx="6781800" cy="44577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3461e84414c60"/>
          <a:stretch xmlns:a="http://schemas.openxmlformats.org/drawingml/2006/main"/>
        </p:blipFill>
        <p:spPr>
          <a:xfrm xmlns:a="http://schemas.openxmlformats.org/drawingml/2006/main">
            <a:off x="805249" y="1657350"/>
            <a:ext cx="5895203" cy="4362450"/>
          </a:xfrm>
          <a:prstGeom xmlns:a="http://schemas.openxmlformats.org/drawingml/2006/main" prst="roundRect">
            <a:avLst>
              <a:gd name="adj" fmla="val 262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7F011-6D1A-441F-A15E-5710B100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09750"/>
            <a:ext cx="1257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FAD5B-136D-4B9F-8D01-C831DCEB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GRID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33A95-B79F-4679-9C6E-18661018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3362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256 × 223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5198E-4BAF-4B60-8EB7-BBAFAF4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337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time samples × active subcarriers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D2142-4CD9-456F-8BF1-100B628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7EF0D-4411-449E-816A-2A4D7373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3533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짧은 프레임: 약 2.125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78B27-F8E4-4B4F-8903-A80E8010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E4382-811D-44E6-B1C8-BBAA5F7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62425"/>
            <a:ext cx="3533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주파수축 변화는 작아 거의 평탄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4E32F-93C2-4DC0-9D1E-C394FFC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57ECF-F121-475E-AB5C-832DB95D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3533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시간축 변화는 위성 운동에서 발생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63FAC-F6E2-4411-9B47-DA910C2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24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E4D4C-E59C-4155-95B3-0BB2E3F8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48275"/>
            <a:ext cx="3533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magnitude와 phase를 함께 보존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09F47-1252-4D2D-A555-AA25C24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1150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색은 |H[m,k]| [dB]이며, 복소 위상 정보는 NPZ/CSV 값에 별도 저장</a:t>
            </a:r>
          </a:p>
        </p:txBody>
      </p:sp>
    </p:spTree>
    <p:extLst>
      <p:ext uri="{BB962C8B-B14F-4D97-AF65-F5344CB8AC3E}">
        <p14:creationId xmlns:p14="http://schemas.microsoft.com/office/powerpoint/2010/main" val="538139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438BB-3630-4FF9-B78B-3EFE0DD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10 · TWO TIME SCALES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39389-4D09-4A2A-B1C3-69C1F632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짧은 프레임과 전체 패스를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45EE5-17C1-4569-A0BD-1AC7DDF7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ms 프레임에서는 변화가 작고, 505.9초 전체 패스에서는 거리 변화가 뚜렷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D5C6F-B60D-4D40-B5FB-67FB33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342D2-3065-4BEF-B2D6-F59B306C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89657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C34DA-6623-434B-B711-B970039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6C502-728F-43E4-9F2B-174826EC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9A38-5E3F-4905-BB86-6CEF7F6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단일 OFDM 프레임: quasi-static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3A2D5-2935-4E0E-B54A-3CFD89F7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B6C0-2E0D-4705-B959-7616142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전체 패스: 경로손실과 위상 진화 관찰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8F2E-DADD-46D5-B168-9BDB0130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B5D61-1D13-4183-B48A-4A2EC3D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1 ms channel state를 전체 패스에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B2D5E-CE51-4ACA-A177-8C12C6F6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C533A-B0D3-4324-9298-F3ADB36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큰 2D CSV 대신 상태 중심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C406C-4512-4E71-824A-D64278FE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4495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339BA-0323-4D82-B3D7-EABFED7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해석 포인트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DBEA2-E44C-4D2C-9CA6-A178AC4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40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8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주파수 선택성보다 시간 선택성이 먼저 드러나는 단일 경로 채널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484AC-521A-403D-BEAB-6160270F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38300"/>
            <a:ext cx="6286500" cy="4400550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6e493899147a1"/>
          <a:stretch xmlns:a="http://schemas.openxmlformats.org/drawingml/2006/main"/>
        </p:blipFill>
        <p:spPr>
          <a:xfrm xmlns:a="http://schemas.openxmlformats.org/drawingml/2006/main">
            <a:off x="5622131" y="1685925"/>
            <a:ext cx="5919788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37B98-96BE-44F1-8081-07C17AD2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096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이상적인 단일 경로 모델이므로 주파수별 magnitude 차이는 거의 없고, 시간에 따라 공통 크기가 변함</a:t>
            </a:r>
          </a:p>
        </p:txBody>
      </p:sp>
    </p:spTree>
    <p:extLst>
      <p:ext uri="{BB962C8B-B14F-4D97-AF65-F5344CB8AC3E}">
        <p14:creationId xmlns:p14="http://schemas.microsoft.com/office/powerpoint/2010/main" val="707210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EC370-9BB3-4370-A0FC-E70109AE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11 · RECEIVER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427EF-AAD3-4426-B0E3-68FC33D5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도플러 보상은 ‘잔류 CFO’ 문제로 연결된다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F6E6-24FC-4AE2-B894-51C2062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raw 채널과 보상 채널을 모두 보존하여 알고리즘 비교가 가능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85D97-356C-42D2-A71E-FA824B8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0C1CF-3E93-4033-8635-944D05C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97808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F614A-7FC2-4728-BC6B-EA62669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7588C-8F2D-472C-978B-BE2DD8E8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19250"/>
            <a:ext cx="6553200" cy="4400550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6eef3db4740b6"/>
          <a:stretch xmlns:a="http://schemas.openxmlformats.org/drawingml/2006/main"/>
        </p:blipFill>
        <p:spPr>
          <a:xfrm xmlns:a="http://schemas.openxmlformats.org/drawingml/2006/main">
            <a:off x="610065" y="1666875"/>
            <a:ext cx="6037921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627BA-ACB9-4F1F-BFCE-6A78629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19275"/>
            <a:ext cx="1257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F50BD-061C-48FB-BBAD-01C380E3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764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BLOCK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B55D7-A305-4670-82AC-0C7F9930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52675"/>
            <a:ext cx="4019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블록 시작에서 추정한 CFO를</a:t>
            </a:r>
          </a:p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블록 내부에 연속 위상으로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0DEC1-3D3F-4800-89F9-1850407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43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1A578-D6C0-473F-8A2A-DC7F1BC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671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채널 위상은 블록 경계에서 끊기지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4F0BB-BB18-41EA-884D-DCEA5E43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52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BA39D-86D3-42E1-A75B-10203F72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767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예측 오차를 residual CFO로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EF65E-6DC6-49EF-B4C7-053A5E48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62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7C71A-A13E-4C60-BA30-DAC6EB8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863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향후 BER–CFO 실험의 설계 기준 제공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54ED8-D878-4272-8A6D-8701477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149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다음 연구: 목표 BER을 만족하는 잔류 CFO 허용치를 도플러 예측 속도 오차로 환산</a:t>
            </a:r>
          </a:p>
        </p:txBody>
      </p:sp>
    </p:spTree>
    <p:extLst>
      <p:ext uri="{BB962C8B-B14F-4D97-AF65-F5344CB8AC3E}">
        <p14:creationId xmlns:p14="http://schemas.microsoft.com/office/powerpoint/2010/main" val="12448951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CAD4B-32EE-4024-928F-B92F21CE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12 · DELIVERY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FA9CD-16F4-4F68-BA85-E000277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다른 모듈에 넘기는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73EF0-9D42-4203-AF53-F6BD9AD1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가독성용 CSV와 대규모 계산용 NPZ/메모리 경로를 역할별로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53C7E-4751-4EDF-A0F0-54E59DA6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EE317-C8A3-49FA-A47E-C2A6C0A3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534150"/>
            <a:ext cx="105958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BBA3F-C484-463E-B03C-326A898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91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AA91E-8526-4324-AC4F-A8CF2C01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486150" cy="38290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87B7B-B977-44FF-9055-2A251E3E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002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58E2F-09AE-4BC7-9954-AEAD0EAF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812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66D8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49976-7882-4E18-8DD1-AE4D5673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310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channel_state.csv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36BE1-4704-4509-A60B-3CFE6C3F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71825"/>
            <a:ext cx="31051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시간별 거리·지연·range rate·Doppler·이득과 지상국 좌표, 단위, raw/compensated 정의를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9B8AA-9C6D-4F48-8EF2-F3854FF1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86150" cy="38290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DEA18-D174-44E4-916A-69F53CE9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2AA37-29E1-4E80-A096-8F9F87E0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812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SHORT 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3A21D-F784-4F42-A694-36692AC8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310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channel_grid.csv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DA062-0F70-4523-B1E4-4818518E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71825"/>
            <a:ext cx="31051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필요한 짧은 OFDM 프레임의 time × frequency 복소 H를 사람이 열어 확인하고 팀원이 직접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4D2B7-7663-4357-971C-1D292AD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09750"/>
            <a:ext cx="3486150" cy="38290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7BDE6-88D4-4EC3-9814-5CAFC669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002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50F06-2FA8-4F90-B408-19A214BF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812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FULL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CB062-A99D-474F-9FC9-3A9B9D5D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76500"/>
            <a:ext cx="310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NPZ / memory / blocks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F18BC-CEA8-4F16-9D2B-3C0BCAFB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71825"/>
            <a:ext cx="31051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전체 패스는 거대한 CSV를 만들지 않고 압축 배열 또는 블록 생성기로 처리하여 저장·메모리 비용 제어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E457F-01AB-4619-B024-489E1B56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905500"/>
            <a:ext cx="882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805E"/>
                </a:solidFill>
                <a:latin typeface="Malgun Gothic"/>
                <a:ea typeface="Malgun Gothic"/>
                <a:cs typeface="Malgun Gothic"/>
              </a:rPr>
              <a:t>모든 인터페이스에 좌표·시간 기준·단위·보상 상태·shape 정보를 메타데이터로 고정</a:t>
            </a:r>
          </a:p>
        </p:txBody>
      </p:sp>
    </p:spTree>
    <p:extLst>
      <p:ext uri="{BB962C8B-B14F-4D97-AF65-F5344CB8AC3E}">
        <p14:creationId xmlns:p14="http://schemas.microsoft.com/office/powerpoint/2010/main" val="1268420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1C119-EC5A-4DD6-BC08-BCAC9B65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9278D-A082-41FB-AADB-E9A85CEC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7628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파트는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결합 준비가 완료됐다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87702-E587-40BA-BFBE-F2F384D2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76600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D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CDD5E1"/>
                </a:solidFill>
                <a:latin typeface="Malgun Gothic"/>
                <a:ea typeface="Malgun Gothic"/>
                <a:cs typeface="Malgun Gothic"/>
              </a:rPr>
              <a:t>궤도·기하·지연·도플러·경로손실·보간·H[m,k]·파일 계약·회귀 검증까지 독립 실행 가능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CF728-7A12-46D7-8BE8-3A562AA5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86300"/>
            <a:ext cx="335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919F6-B215-44A6-9539-7D53B4D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8F693-ACA1-4E2D-BA87-FF9D499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 결합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4C91-E27A-4B9B-B8D2-A094D9F8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91175"/>
            <a:ext cx="3009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EB9C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AEB9C8"/>
                </a:solidFill>
                <a:latin typeface="Malgun Gothic"/>
                <a:ea typeface="Malgun Gothic"/>
                <a:cs typeface="Malgun Gothic"/>
              </a:rPr>
              <a:t>민영님 OFDM 프레임에 H[m,k] 적용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083BD-79B6-4AA8-8C17-2AFACAF5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335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1EACC-1896-4BD1-8433-E8D4273F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67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4EA56-9F98-4833-8D6A-0E27F3C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197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성능 실험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2DC94-74EB-4269-B8BE-50FF190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91175"/>
            <a:ext cx="3009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EB9C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AEB9C8"/>
                </a:solidFill>
                <a:latin typeface="Malgun Gothic"/>
                <a:ea typeface="Malgun Gothic"/>
                <a:cs typeface="Malgun Gothic"/>
              </a:rPr>
              <a:t>잔류 CFO별 BER·EVM·ICI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D8B22-339F-441E-8B9F-EDCA366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35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30D2D-8BF1-4987-A436-A579E9E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67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EB3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456CF-A970-4FDC-B22F-DB508850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99D35-238B-467D-829F-E3C79274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91175"/>
            <a:ext cx="3009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EB9C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AEB9C8"/>
                </a:solidFill>
                <a:latin typeface="Malgun Gothic"/>
                <a:ea typeface="Malgun Gothic"/>
                <a:cs typeface="Malgun Gothic"/>
              </a:rPr>
              <a:t>빔포밍·다중경로·채널 추정 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99A7A-8C96-4038-AF30-D8660C7F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7829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778295"/>
                </a:solidFill>
                <a:latin typeface="Malgun Gothic"/>
                <a:ea typeface="Malgun Gothic"/>
                <a:cs typeface="Malgun Gothic"/>
              </a:rPr>
              <a:t>STARLINK‑5285 · NORAD 55296 · SKKU Natural Sciences Campus</a:t>
            </a:r>
          </a:p>
        </p:txBody>
      </p:sp>
    </p:spTree>
    <p:extLst>
      <p:ext uri="{BB962C8B-B14F-4D97-AF65-F5344CB8AC3E}">
        <p14:creationId xmlns:p14="http://schemas.microsoft.com/office/powerpoint/2010/main" val="599232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2026-08-05T01:39:28.1520000Z</dcterms:created>
  <dcterms:modified xsi:type="dcterms:W3CDTF">2026-08-05T01:39:28.1520000Z</dcterms:modified>
</coreProperties>
</file>